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2.xml" ContentType="application/vnd.openxmlformats-officedocument.theme+xml"/>
  <Override PartName="/ppt/theme/theme2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4" r:id="rId4"/>
    <p:sldMasterId id="2147483667" r:id="rId5"/>
    <p:sldMasterId id="2147483670" r:id="rId6"/>
    <p:sldMasterId id="214748367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5.xml"/><Relationship Id="rId5" Type="http://schemas.openxmlformats.org/officeDocument/2006/relationships/slideMaster" Target="slideMasters/slideMaster17.xml"/><Relationship Id="rId6" Type="http://schemas.openxmlformats.org/officeDocument/2006/relationships/slideMaster" Target="slideMasters/slideMaster19.xml"/><Relationship Id="rId7" Type="http://schemas.openxmlformats.org/officeDocument/2006/relationships/slideMaster" Target="slideMasters/slideMaster2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PlaceHolder 4"/>
          <p:cNvSpPr>
            <a:spLocks noGrp="1"/>
          </p:cNvSpPr>
          <p:nvPr>
            <p:ph type="dt" idx="6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PlaceHolder 5"/>
          <p:cNvSpPr>
            <a:spLocks noGrp="1"/>
          </p:cNvSpPr>
          <p:nvPr>
            <p:ph type="ftr" idx="6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6"/>
          <p:cNvSpPr>
            <a:spLocks noGrp="1"/>
          </p:cNvSpPr>
          <p:nvPr>
            <p:ph type="sldNum" idx="6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A0FCDE-DC5D-4EB8-9F55-BBFF5C5D6F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43D1D4-2187-4C57-BB55-6AEF90DF17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15E56E-F7B1-4EA1-B036-5965ADFB44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3080" cy="12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2240" cy="552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3080" cy="258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B8E70B-F49F-436A-ABAC-E2B4A0027DA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4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5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53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5360" cy="384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5360" cy="67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23E224-068F-4DF9-82BC-64A660DF625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6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6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6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340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7D67ED-B4C8-4251-838F-CC7CEFD9C9B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8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8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8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3040" cy="37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5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6C140B-7B1D-405F-9A5A-177E877E019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5360" cy="259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1A7AF42-B41F-4D3A-A580-D33282558CA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2800" cy="302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4E1CDE-2518-4CE1-891B-C1A4D2DD0CF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541800" y="79020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4"/>
          <p:cNvSpPr/>
          <p:nvPr/>
        </p:nvSpPr>
        <p:spPr>
          <a:xfrm>
            <a:off x="8893080" y="2886480"/>
            <a:ext cx="60804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3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3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3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6720" cy="302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5360" cy="5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1512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15AFF30-E4FD-46D0-8AED-0D635B6A09C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D9C003-C40F-419A-8F7F-FE7B89CCE99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69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70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71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3200" cy="52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8880" cy="52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5540D9-DB89-47C8-9F6F-07A792DDCE4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185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86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87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5360" cy="18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5360" cy="85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50000"/>
                  <a:lumOff val="50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8E1DD2-ED05-4E89-990E-3AC4D50ECA8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0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0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0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248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4DE67B-0E95-4518-BFBC-967726DA204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1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1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2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4280" cy="57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4280" cy="330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7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8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8B98C3A-C523-48BA-BFC5-E57565DD83B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37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38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39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05DC31B-A848-4493-907C-1ECEA9032EC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accent1"/>
              </a:solidFill>
              <a:effectLst/>
              <a:uFillTx/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397015-7795-4580-9B5E-AB36E3D66C88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68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69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70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PlaceHolder 1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FA6940-9799-47B6-9C24-4B6F16D67F5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284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28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28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7C35732-9DEC-4293-8E11-5F5ACBCB0F8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00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01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02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77160" y="99468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FE34177-B7B5-4C15-9CDD-C9EE0BBFD24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15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16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17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77160" y="99432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4DB25D-6BB7-494E-92D2-BB4FEEB6CAA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31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32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33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77160" y="99432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ftr" idx="58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9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E033268-5900-4DA8-8C05-55C23DC23B9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dt" idx="60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32419560-85E4-40E2-A17A-D0809ACA6C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77160" y="956160"/>
            <a:ext cx="8595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8111C16F-930D-4295-BCF1-CC5B59E80B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1440" y="-8640"/>
            <a:ext cx="12189240" cy="6867720"/>
            <a:chOff x="1440" y="-8640"/>
            <a:chExt cx="12189240" cy="686772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1440" y="1440"/>
              <a:ext cx="841320" cy="56646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446040"/>
            <a:ext cx="85953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29076DC-58AC-4569-B177-8B8CCAF30D8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  <p:sldLayoutId id="2147483672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roup 6"/>
          <p:cNvGrpSpPr/>
          <p:nvPr/>
        </p:nvGrpSpPr>
        <p:grpSpPr>
          <a:xfrm>
            <a:off x="0" y="-8640"/>
            <a:ext cx="12190680" cy="6867720"/>
            <a:chOff x="0" y="-8640"/>
            <a:chExt cx="12190680" cy="6867720"/>
          </a:xfrm>
        </p:grpSpPr>
        <p:cxnSp>
          <p:nvCxnSpPr>
            <p:cNvPr id="346" name="Straight Connector 19"/>
            <p:cNvCxnSpPr/>
            <p:nvPr/>
          </p:nvCxnSpPr>
          <p:spPr>
            <a:xfrm>
              <a:off x="9370800" y="0"/>
              <a:ext cx="1220760" cy="6859440"/>
            </a:xfrm>
            <a:prstGeom prst="straightConnector1">
              <a:avLst/>
            </a:prstGeom>
            <a:ln cap="rnd" w="9525">
              <a:solidFill>
                <a:srgbClr val="BFBFBF"/>
              </a:solidFill>
              <a:round/>
            </a:ln>
          </p:spPr>
        </p:cxnSp>
        <p:cxnSp>
          <p:nvCxnSpPr>
            <p:cNvPr id="347" name="Straight Connector 20"/>
            <p:cNvCxnSpPr/>
            <p:nvPr/>
          </p:nvCxnSpPr>
          <p:spPr>
            <a:xfrm flipH="1">
              <a:off x="7425000" y="3681360"/>
              <a:ext cx="4764960" cy="3178080"/>
            </a:xfrm>
            <a:prstGeom prst="straightConnector1">
              <a:avLst/>
            </a:prstGeom>
            <a:ln cap="rnd" w="9525">
              <a:solidFill>
                <a:srgbClr val="D9D9D9"/>
              </a:solidFill>
              <a:round/>
            </a:ln>
          </p:spPr>
        </p:cxnSp>
        <p:sp>
          <p:nvSpPr>
            <p:cNvPr id="348" name="Rectangle 23"/>
            <p:cNvSpPr/>
            <p:nvPr/>
          </p:nvSpPr>
          <p:spPr>
            <a:xfrm>
              <a:off x="9181440" y="-8640"/>
              <a:ext cx="3006000" cy="6865200"/>
            </a:xfrm>
            <a:custGeom>
              <a:avLst/>
              <a:gdLst>
                <a:gd name="textAreaLeft" fmla="*/ 0 w 3006000"/>
                <a:gd name="textAreaRight" fmla="*/ 3007440 w 3006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Rectangle 25"/>
            <p:cNvSpPr/>
            <p:nvPr/>
          </p:nvSpPr>
          <p:spPr>
            <a:xfrm>
              <a:off x="9603360" y="-8640"/>
              <a:ext cx="2586960" cy="6865200"/>
            </a:xfrm>
            <a:custGeom>
              <a:avLst/>
              <a:gdLst>
                <a:gd name="textAreaLeft" fmla="*/ 0 w 2586960"/>
                <a:gd name="textAreaRight" fmla="*/ 2588400 w 258696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Isosceles Triangle 23"/>
            <p:cNvSpPr/>
            <p:nvPr/>
          </p:nvSpPr>
          <p:spPr>
            <a:xfrm>
              <a:off x="8932320" y="3048120"/>
              <a:ext cx="3258360" cy="380844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Rectangle 27"/>
            <p:cNvSpPr/>
            <p:nvPr/>
          </p:nvSpPr>
          <p:spPr>
            <a:xfrm>
              <a:off x="9334440" y="-8640"/>
              <a:ext cx="2853000" cy="6865200"/>
            </a:xfrm>
            <a:custGeom>
              <a:avLst/>
              <a:gdLst>
                <a:gd name="textAreaLeft" fmla="*/ 0 w 2853000"/>
                <a:gd name="textAreaRight" fmla="*/ 2854440 w 28530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Rectangle 28"/>
            <p:cNvSpPr/>
            <p:nvPr/>
          </p:nvSpPr>
          <p:spPr>
            <a:xfrm>
              <a:off x="10898640" y="-8640"/>
              <a:ext cx="1288800" cy="6865200"/>
            </a:xfrm>
            <a:custGeom>
              <a:avLst/>
              <a:gdLst>
                <a:gd name="textAreaLeft" fmla="*/ 0 w 1288800"/>
                <a:gd name="textAreaRight" fmla="*/ 1290240 w 128880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Rectangle 29"/>
            <p:cNvSpPr/>
            <p:nvPr/>
          </p:nvSpPr>
          <p:spPr>
            <a:xfrm>
              <a:off x="10938960" y="-8640"/>
              <a:ext cx="1248480" cy="6865200"/>
            </a:xfrm>
            <a:custGeom>
              <a:avLst/>
              <a:gdLst>
                <a:gd name="textAreaLeft" fmla="*/ 0 w 1248480"/>
                <a:gd name="textAreaRight" fmla="*/ 1249920 w 1248480"/>
                <a:gd name="textAreaTop" fmla="*/ 0 h 6865200"/>
                <a:gd name="textAreaBottom" fmla="*/ 6866640 h 686520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Isosceles Triangle 27"/>
            <p:cNvSpPr/>
            <p:nvPr/>
          </p:nvSpPr>
          <p:spPr>
            <a:xfrm>
              <a:off x="10371600" y="3589920"/>
              <a:ext cx="1815840" cy="326664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Isosceles Triangle 28"/>
            <p:cNvSpPr/>
            <p:nvPr/>
          </p:nvSpPr>
          <p:spPr>
            <a:xfrm>
              <a:off x="0" y="4013280"/>
              <a:ext cx="447120" cy="284328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77160" y="994320"/>
            <a:ext cx="859536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5360" cy="387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ftr" idx="61"/>
          </p:nvPr>
        </p:nvSpPr>
        <p:spPr>
          <a:xfrm>
            <a:off x="677160" y="6041520"/>
            <a:ext cx="6296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 type="sldNum" idx="62"/>
          </p:nvPr>
        </p:nvSpPr>
        <p:spPr>
          <a:xfrm>
            <a:off x="8590680" y="6041520"/>
            <a:ext cx="6818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9FFC594-6875-4212-8600-90C140E39B5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PlaceHolder 5"/>
          <p:cNvSpPr>
            <a:spLocks noGrp="1"/>
          </p:cNvSpPr>
          <p:nvPr>
            <p:ph type="dt" idx="63"/>
          </p:nvPr>
        </p:nvSpPr>
        <p:spPr>
          <a:xfrm>
            <a:off x="7205040" y="6041520"/>
            <a:ext cx="9104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  <p:sldLayoutId id="214748367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8520" cy="186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SmartDRM: Blockchain based Digital Rights Management System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/>
          <p:nvPr/>
        </p:nvSpPr>
        <p:spPr>
          <a:xfrm>
            <a:off x="2286000" y="2286000"/>
            <a:ext cx="8499240" cy="28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TEAM MEMBERS 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Silambarasan. B          ( 620822205102 )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Muralidharan. C          ( 620822205064 )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Pradeep. M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( 620822205075 )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Srinath. P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          ( 620822205105 )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MRS. Sathiyapriya K,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318960" y="27972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Problem Statement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1"/>
          <p:cNvSpPr/>
          <p:nvPr/>
        </p:nvSpPr>
        <p:spPr>
          <a:xfrm>
            <a:off x="457200" y="1371600"/>
            <a:ext cx="9037080" cy="50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Centralized control leading to single-point failure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Lack of transparent ownership verification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Manual and unreliable license enforcement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No intelligent mechanism to detect abnormal usage patterns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Limited auditability and accountability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0" y="5148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/>
          <p:nvPr/>
        </p:nvSpPr>
        <p:spPr>
          <a:xfrm>
            <a:off x="549360" y="1143000"/>
            <a:ext cx="8593920" cy="443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design a decentralized DRM framework using blockchain technology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ensure immutable ownership and license records through smart contracts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provide controlled and flexible access mechanisms for digital assets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detect suspicious usage behavior using AI-based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maintain an auditable and transparent activity log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To develop a modern, user-friendly interface for asset management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480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3"/>
          <p:cNvSpPr/>
          <p:nvPr/>
        </p:nvSpPr>
        <p:spPr>
          <a:xfrm>
            <a:off x="379440" y="3570120"/>
            <a:ext cx="350064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4"/>
          <p:cNvSpPr/>
          <p:nvPr/>
        </p:nvSpPr>
        <p:spPr>
          <a:xfrm>
            <a:off x="834840" y="727920"/>
            <a:ext cx="8079480" cy="2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Current DRM solutions primarily operate using centralized servers managed by content distributors or platform providers.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Characteristics: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Central authority controls access and licenses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User authentication and permissions stored centrally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DRM policies enforced at application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Content Placeholder 1"/>
          <p:cNvSpPr/>
          <p:nvPr/>
        </p:nvSpPr>
        <p:spPr>
          <a:xfrm>
            <a:off x="685800" y="4156920"/>
            <a:ext cx="8079480" cy="27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Single-point failure and high vulnerability to attacks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Limited transparency in ownership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Dependency on trusted third parties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Difficult to audit access and 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Poor scalability for large digital ecosystems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4"/>
          <p:cNvSpPr/>
          <p:nvPr/>
        </p:nvSpPr>
        <p:spPr>
          <a:xfrm>
            <a:off x="184680" y="3560400"/>
            <a:ext cx="31212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5"/>
          <p:cNvSpPr/>
          <p:nvPr/>
        </p:nvSpPr>
        <p:spPr>
          <a:xfrm>
            <a:off x="685800" y="946080"/>
            <a:ext cx="8593920" cy="27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Blockchain-based asset registration and ownership proof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 contract-driven license issuance and enforcement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AI-powered behavioral risk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Secure audit logging for all critical actions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Full-stack web interface for real-time interaction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Content Placeholder 3"/>
          <p:cNvSpPr/>
          <p:nvPr/>
        </p:nvSpPr>
        <p:spPr>
          <a:xfrm>
            <a:off x="685800" y="4207680"/>
            <a:ext cx="8593920" cy="26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Immutable and tamper-proof ownership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Transparent license enforcement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Reduced piracy and unauthorized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Automated royalty-ready transaction tracking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195840" y="111960"/>
            <a:ext cx="884052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2840400" y="2184840"/>
            <a:ext cx="3426840" cy="455040"/>
          </a:xfrm>
          <a:prstGeom prst="rect">
            <a:avLst/>
          </a:prstGeom>
          <a:solidFill>
            <a:srgbClr val="FFFF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Frontend (React + Tailwind)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2853000" y="3099240"/>
            <a:ext cx="3426840" cy="455040"/>
          </a:xfrm>
          <a:prstGeom prst="rect">
            <a:avLst/>
          </a:prstGeom>
          <a:solidFill>
            <a:srgbClr val="FF8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Backend (FastAPI)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2853000" y="4013640"/>
            <a:ext cx="3426840" cy="455040"/>
          </a:xfrm>
          <a:prstGeom prst="rect">
            <a:avLst/>
          </a:prstGeom>
          <a:solidFill>
            <a:srgbClr val="FF4000"/>
          </a:solidFill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AI Engine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2853000" y="4928040"/>
            <a:ext cx="3426840" cy="455040"/>
          </a:xfrm>
          <a:prstGeom prst="rect">
            <a:avLst/>
          </a:prstGeom>
          <a:solidFill>
            <a:srgbClr val="F10D0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Blockchain Network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081600" y="1143000"/>
            <a:ext cx="3198240" cy="582480"/>
          </a:xfrm>
          <a:prstGeom prst="flowChartInputOutpu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User Data /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2853000" y="5842440"/>
            <a:ext cx="3198240" cy="683640"/>
          </a:xfrm>
          <a:prstGeom prst="flowChartMagneticDrum">
            <a:avLst/>
          </a:prstGeom>
          <a:solidFill>
            <a:srgbClr val="00A9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Audit &amp; Storage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4453200" y="53852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4453200" y="44708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4453200" y="26420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5" name=""/>
          <p:cNvSpPr/>
          <p:nvPr/>
        </p:nvSpPr>
        <p:spPr>
          <a:xfrm>
            <a:off x="4453200" y="35564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4453200" y="17276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5360" cy="61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4"/>
          <p:cNvSpPr/>
          <p:nvPr/>
        </p:nvSpPr>
        <p:spPr>
          <a:xfrm>
            <a:off x="275760" y="3599280"/>
            <a:ext cx="30304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Content Placeholder 5"/>
          <p:cNvSpPr/>
          <p:nvPr/>
        </p:nvSpPr>
        <p:spPr>
          <a:xfrm>
            <a:off x="677880" y="1371960"/>
            <a:ext cx="8593920" cy="41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Authentication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Asset Management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Blockchain &amp; Smart Contract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License &amp; Access Control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AI-Based Risk Analysis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Audit Logging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Frontend Dashboard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6"/>
          <p:cNvSpPr/>
          <p:nvPr/>
        </p:nvSpPr>
        <p:spPr>
          <a:xfrm>
            <a:off x="282960" y="156600"/>
            <a:ext cx="8593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Authentication Module</a:t>
            </a:r>
            <a:br>
              <a:rPr sz="3600"/>
            </a:b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7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Secure onboarding and identity verification of all users accessing protected digital 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Key Features: Email/password login, secure password hashing, and session/token-based authentication.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Role-Based Access: Differentiates admins, content owners, and consumers with tailored permissions.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Controls: Brute-force protection, validation of credentials, and secure storage of user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 Points: Acts as the entry gate to all other modules (assets, blockchain, AI risk, and dashboard).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8"/>
          <p:cNvSpPr/>
          <p:nvPr/>
        </p:nvSpPr>
        <p:spPr>
          <a:xfrm>
            <a:off x="-142560" y="177120"/>
            <a:ext cx="102949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Asset Management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9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End‑to‑end lifecycle management of protected digital 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Asset Types: Supports documents, media, and other licensed digital content.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Responsibilities: Upload, encrypt, store, organize, and distribute assets.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Metadata Management: Tags, categories, owners, and sensitivity levels.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Central, secure repository to manage all DRM‑protected content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3"/>
          <p:cNvSpPr/>
          <p:nvPr/>
        </p:nvSpPr>
        <p:spPr>
          <a:xfrm>
            <a:off x="228600" y="177120"/>
            <a:ext cx="1143000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8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Architecture &amp; Storage :</a:t>
            </a:r>
            <a:endParaRPr lang="en-US" sz="2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4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Architecture: API layer + storage backend with encryption at 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Upload Pipeline: Validation, virus/malware checks (optional), encryption, and indexing.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Storage Model: Encrypted blobs with separate metadata records in the database.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Linking: Assets are linked to owners, licenses, and blockchain records.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Scalability: Designed to handle large numbers of assets and high request volumes.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5"/>
          <p:cNvSpPr/>
          <p:nvPr/>
        </p:nvSpPr>
        <p:spPr>
          <a:xfrm>
            <a:off x="228600" y="177120"/>
            <a:ext cx="1143000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4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Operations &amp; Benefits: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6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Core Operations: Upload, update, retire, and retrieve assets with proper permissions.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Search &amp; Filter: Metadata‑based search by owner, tag, date, and license state.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 Controls: No direct file URLs; all access goes through policy checks.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Monitoring: Asset usage statistics feed into risk analysis and dashboards.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Benefits: Reduced leakage risk, better asset visibility, and streamlined content 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0"/>
          <p:cNvSpPr/>
          <p:nvPr/>
        </p:nvSpPr>
        <p:spPr>
          <a:xfrm>
            <a:off x="282960" y="156600"/>
            <a:ext cx="10376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Blockchain &amp; Smart Contract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11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Purpose: Provide immutable, verifiable records for licenses and key asset events.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 Contracts: Encode usage terms (duration, region, limits) as on‑chain logic.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Ledger Role: Acts as the “source of truth” for rights and critical transactions.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Trust Model: Reduces reliance on a single central authority.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Goal: Enhance transparency, non‑repudiation, and auditability of DRM policies.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7"/>
          <p:cNvSpPr/>
          <p:nvPr/>
        </p:nvSpPr>
        <p:spPr>
          <a:xfrm>
            <a:off x="282960" y="156600"/>
            <a:ext cx="10376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1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Design &amp; Components</a:t>
            </a:r>
            <a:endParaRPr lang="en-US" sz="21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18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On‑Chain Data: License identifiers, ownership transfers, and important asset events.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Off‑Chain Links: References to encrypted assets and local database records.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Contract Functions: Issue, renew, revoke, and verify license conditions.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Security: Carefully designed contract interfaces to prevent misuse and re‑entrancy issues.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Integration: Backend interacts with blockchain node / provider for transactions and queries.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9"/>
          <p:cNvSpPr/>
          <p:nvPr/>
        </p:nvSpPr>
        <p:spPr>
          <a:xfrm>
            <a:off x="282960" y="156600"/>
            <a:ext cx="1037628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24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Workflows &amp; Benefits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20"/>
          <p:cNvSpPr/>
          <p:nvPr/>
        </p:nvSpPr>
        <p:spPr>
          <a:xfrm>
            <a:off x="549000" y="1143000"/>
            <a:ext cx="8593920" cy="548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License Issuance Flow: Admin creates license → contract call → on‑chain record.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Verification Flow: Access control module queries contract state before granting access.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Audit Flow: Investigators can replay on‑chain history to validate claims.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Interoperability: Potential to integrate with external marketplaces or rights 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Benefits: Strong evidence trail, reduced disputes, and higher stakeholder confidence.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5360" cy="131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Cloud Callout 3"/>
          <p:cNvSpPr/>
          <p:nvPr/>
        </p:nvSpPr>
        <p:spPr>
          <a:xfrm>
            <a:off x="2986560" y="5048640"/>
            <a:ext cx="4658040" cy="127296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bg1"/>
          </a:solidFill>
          <a:ln cap="rnd">
            <a:solidFill>
              <a:srgbClr val="6A8F1C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12"/>
          <p:cNvSpPr/>
          <p:nvPr/>
        </p:nvSpPr>
        <p:spPr>
          <a:xfrm>
            <a:off x="665640" y="857160"/>
            <a:ext cx="8593920" cy="44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SmartDRM-X demonstrates how blockchain and artificial intelligence can be effectively integrated to build a secure, transparent, and intelligent Digital Rights Management system. By decentralizing ownership records, automating license enforcement, and introducing behavioral analysis, the system significantly improves trust and security in digital content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The proposed framework is scalable, extensible, and suitable for applications in education, digital media platforms, enterprise document management, and software licensing.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Future enhancements may include integration with decentralized storage systems and advanced machine learning models for predictive piracy detection.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1334</TotalTime>
  <Application>LibreOffice/26.2.0.3$Linux_X86_64 LibreOffice_project/620$Build-3</Application>
  <AppVersion>15.0000</AppVersion>
  <Words>40</Words>
  <Paragraphs>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cp:lastPrinted>2026-02-24T10:18:30Z</cp:lastPrinted>
  <dcterms:modified xsi:type="dcterms:W3CDTF">2026-02-25T09:33:00Z</dcterms:modified>
  <cp:revision>15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